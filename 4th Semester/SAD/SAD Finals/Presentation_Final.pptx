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711" r:id="rId2"/>
  </p:sldMasterIdLst>
  <p:notesMasterIdLst>
    <p:notesMasterId r:id="rId20"/>
  </p:notesMasterIdLst>
  <p:sldIdLst>
    <p:sldId id="256" r:id="rId3"/>
    <p:sldId id="265" r:id="rId4"/>
    <p:sldId id="257" r:id="rId5"/>
    <p:sldId id="260" r:id="rId6"/>
    <p:sldId id="258" r:id="rId7"/>
    <p:sldId id="259" r:id="rId8"/>
    <p:sldId id="261" r:id="rId9"/>
    <p:sldId id="262" r:id="rId10"/>
    <p:sldId id="263" r:id="rId11"/>
    <p:sldId id="264"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3389F9-4F86-43E5-87A6-3977C49994A5}" type="datetimeFigureOut">
              <a:rPr lang="en-US" smtClean="0"/>
              <a:t>10/7/2018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CDCC4A-8CAA-469E-8323-0124D69E9616}" type="slidenum">
              <a:rPr lang="en-US" smtClean="0"/>
              <a:t>‹#›</a:t>
            </a:fld>
            <a:endParaRPr lang="en-US"/>
          </a:p>
        </p:txBody>
      </p:sp>
    </p:spTree>
    <p:extLst>
      <p:ext uri="{BB962C8B-B14F-4D97-AF65-F5344CB8AC3E}">
        <p14:creationId xmlns:p14="http://schemas.microsoft.com/office/powerpoint/2010/main" val="3469545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ACDCC4A-8CAA-469E-8323-0124D69E9616}" type="slidenum">
              <a:rPr lang="en-US" smtClean="0"/>
              <a:t>1</a:t>
            </a:fld>
            <a:endParaRPr lang="en-US"/>
          </a:p>
        </p:txBody>
      </p:sp>
    </p:spTree>
    <p:extLst>
      <p:ext uri="{BB962C8B-B14F-4D97-AF65-F5344CB8AC3E}">
        <p14:creationId xmlns:p14="http://schemas.microsoft.com/office/powerpoint/2010/main" val="211903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9D3A46-2090-45B5-9DC5-FFEEBC43DDFB}"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888265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2F88E-00C7-4914-B8B9-59B975642017}"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443911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8281ED-9695-4544-ADA3-A9FD14ED06BE}"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2414686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99FC783-34D1-4E61-B897-AB82C76E83FE}"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223498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5E6EE9-919B-48AC-8554-2F070B6AC47F}" type="datetime1">
              <a:rPr lang="en-US" smtClean="0"/>
              <a:t>10/7/2018</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100505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8E9A4F1-263A-4968-9167-4BB25A49A21D}" type="datetime1">
              <a:rPr lang="en-US" smtClean="0"/>
              <a:t>10/7/2018</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108058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F2EBF0-251B-420C-9E18-7D6BBD16FEEF}" type="datetime1">
              <a:rPr lang="en-US" smtClean="0"/>
              <a:t>10/7/2018</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1667717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0DC1F4-9A84-475E-843A-972E88B3FAE5}"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2213002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7EFB34-AAB6-4026-BC22-89D4003FCA4A}"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4069098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67D50F9-666F-419A-A6C7-B8E19B0BC31E}"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1453057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A2E959-D5B9-4E51-BDAF-E0A923A31105}"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E368BE-77EF-4945-9729-4295D5E1577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78817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2955102E-2AAC-4B1A-AC5E-D5C552BD3304}"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2446375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133AC58C-0DA7-433C-8653-64D6FF319BA5}"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E368BE-77EF-4945-9729-4295D5E1577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71880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DCC1C7A-E77A-4E37-85E2-295C159C85A0}"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4120313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0A17A17-20E5-4C66-B44E-5CF9BEECB1D0}"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4287119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AF5C42-2798-4A2E-9937-7D8A4648A85A}"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6331469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717429-9FBA-448C-B191-2522F5B14984}"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921779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08B969-5747-4BA0-ACCA-DF9771E27E3B}"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13248516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49AA29-7F9C-4A85-B5D4-3D31791330F8}"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168352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B480FE6-1AE1-422F-B33B-DFA1BA27F630}"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518855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A456158-C611-4A05-BEA4-23DFDE88E6F1}" type="datetime1">
              <a:rPr lang="en-US" smtClean="0"/>
              <a:t>10/7/2018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88795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46F3B44-791F-46D2-9FAE-472C5552A221}" type="datetime1">
              <a:rPr lang="en-US" smtClean="0"/>
              <a:t>10/7/2018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11113106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C1AA36-1404-4296-95CA-BDF74DFC83B2}" type="datetime1">
              <a:rPr lang="en-US" smtClean="0"/>
              <a:t>10/7/2018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4579589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D9295B-5062-43B3-B080-597090B75EB9}"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1847618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D8B37-AD68-4831-B4C3-0F178666F9A0}" type="datetime1">
              <a:rPr lang="en-US" smtClean="0"/>
              <a:t>10/7/2018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513979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780181-A373-46A1-900D-38836622FA23}"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0813298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90A9D6-DCED-4267-A222-0B7895B9EED6}" type="datetime1">
              <a:rPr lang="en-US" smtClean="0"/>
              <a:t>10/7/2018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E368BE-77EF-4945-9729-4295D5E1577B}" type="slidenum">
              <a:rPr lang="en-US" smtClean="0"/>
              <a:t>‹#›</a:t>
            </a:fld>
            <a:endParaRPr lang="en-US"/>
          </a:p>
        </p:txBody>
      </p:sp>
    </p:spTree>
    <p:extLst>
      <p:ext uri="{BB962C8B-B14F-4D97-AF65-F5344CB8AC3E}">
        <p14:creationId xmlns:p14="http://schemas.microsoft.com/office/powerpoint/2010/main" val="383585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9D291BB-BEA1-43FD-AF47-B0FAACB9D18F}" type="datetime1">
              <a:rPr lang="en-US" smtClean="0"/>
              <a:t>10/7/2018</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BE368BE-77EF-4945-9729-4295D5E1577B}" type="slidenum">
              <a:rPr lang="en-US" smtClean="0"/>
              <a:t>‹#›</a:t>
            </a:fld>
            <a:endParaRPr lang="en-US"/>
          </a:p>
        </p:txBody>
      </p:sp>
    </p:spTree>
    <p:extLst>
      <p:ext uri="{BB962C8B-B14F-4D97-AF65-F5344CB8AC3E}">
        <p14:creationId xmlns:p14="http://schemas.microsoft.com/office/powerpoint/2010/main" val="94579153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hf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F6E2E9-746B-4BCF-8BDE-7AFD799ECDF4}" type="datetime1">
              <a:rPr lang="en-US" smtClean="0"/>
              <a:t>10/7/2018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E368BE-77EF-4945-9729-4295D5E1577B}" type="slidenum">
              <a:rPr lang="en-US" smtClean="0"/>
              <a:t>‹#›</a:t>
            </a:fld>
            <a:endParaRPr lang="en-US"/>
          </a:p>
        </p:txBody>
      </p:sp>
    </p:spTree>
    <p:extLst>
      <p:ext uri="{BB962C8B-B14F-4D97-AF65-F5344CB8AC3E}">
        <p14:creationId xmlns:p14="http://schemas.microsoft.com/office/powerpoint/2010/main" val="369575546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697933"/>
            <a:ext cx="8915399" cy="2079446"/>
          </a:xfrm>
        </p:spPr>
        <p:txBody>
          <a:bodyPr>
            <a:noAutofit/>
          </a:bodyPr>
          <a:lstStyle/>
          <a:p>
            <a:r>
              <a:rPr lang="en-US" sz="6600" dirty="0" smtClean="0">
                <a:latin typeface="Times New Roman" panose="02020603050405020304" pitchFamily="18" charset="0"/>
                <a:cs typeface="Times New Roman" panose="02020603050405020304" pitchFamily="18" charset="0"/>
              </a:rPr>
              <a:t>Automated Attendance System</a:t>
            </a:r>
            <a:endParaRPr lang="en-US" sz="6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589213" y="4777379"/>
            <a:ext cx="8915399" cy="537005"/>
          </a:xfrm>
        </p:spPr>
        <p:txBody>
          <a:bodyPr/>
          <a:lstStyle/>
          <a:p>
            <a:pPr lvl="0">
              <a:buClr>
                <a:srgbClr val="4F81BD"/>
              </a:buClr>
            </a:pPr>
            <a:r>
              <a:rPr lang="en-US" sz="2400" dirty="0">
                <a:solidFill>
                  <a:prstClr val="black">
                    <a:lumMod val="65000"/>
                    <a:lumOff val="35000"/>
                  </a:prstClr>
                </a:solidFill>
                <a:latin typeface="Times New Roman" panose="02020603050405020304" pitchFamily="18" charset="0"/>
                <a:cs typeface="Times New Roman" panose="02020603050405020304" pitchFamily="18" charset="0"/>
              </a:rPr>
              <a:t>Course: CSE 4408 – System Analysis and Design Lab</a:t>
            </a:r>
          </a:p>
          <a:p>
            <a:endParaRPr lang="en-US" dirty="0"/>
          </a:p>
        </p:txBody>
      </p:sp>
      <p:sp>
        <p:nvSpPr>
          <p:cNvPr id="4" name="Slide Number Placeholder 3"/>
          <p:cNvSpPr>
            <a:spLocks noGrp="1"/>
          </p:cNvSpPr>
          <p:nvPr>
            <p:ph type="sldNum" sz="quarter" idx="12"/>
          </p:nvPr>
        </p:nvSpPr>
        <p:spPr/>
        <p:txBody>
          <a:bodyPr/>
          <a:lstStyle/>
          <a:p>
            <a:fld id="{5BE368BE-77EF-4945-9729-4295D5E1577B}" type="slidenum">
              <a:rPr lang="en-US" smtClean="0"/>
              <a:t>1</a:t>
            </a:fld>
            <a:endParaRPr lang="en-US"/>
          </a:p>
        </p:txBody>
      </p:sp>
    </p:spTree>
    <p:extLst>
      <p:ext uri="{BB962C8B-B14F-4D97-AF65-F5344CB8AC3E}">
        <p14:creationId xmlns:p14="http://schemas.microsoft.com/office/powerpoint/2010/main" val="22504517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smtClean="0">
                <a:latin typeface="Times New Roman" panose="02020603050405020304" pitchFamily="18" charset="0"/>
                <a:cs typeface="Times New Roman" panose="02020603050405020304" pitchFamily="18" charset="0"/>
              </a:rPr>
              <a:t>Team Composition</a:t>
            </a:r>
            <a:endParaRPr lang="en-US" sz="5400"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855547323"/>
              </p:ext>
            </p:extLst>
          </p:nvPr>
        </p:nvGraphicFramePr>
        <p:xfrm>
          <a:off x="2592925" y="2797041"/>
          <a:ext cx="8915400" cy="2072640"/>
        </p:xfrm>
        <a:graphic>
          <a:graphicData uri="http://schemas.openxmlformats.org/drawingml/2006/table">
            <a:tbl>
              <a:tblPr firstRow="1" bandRow="1">
                <a:tableStyleId>{5C22544A-7EE6-4342-B048-85BDC9FD1C3A}</a:tableStyleId>
              </a:tblPr>
              <a:tblGrid>
                <a:gridCol w="4457700"/>
                <a:gridCol w="4457700"/>
              </a:tblGrid>
              <a:tr h="370840">
                <a:tc>
                  <a:txBody>
                    <a:bodyPr/>
                    <a:lstStyle/>
                    <a:p>
                      <a:r>
                        <a:rPr lang="en-US" sz="2800" dirty="0" smtClean="0">
                          <a:latin typeface="Times New Roman" panose="02020603050405020304" pitchFamily="18" charset="0"/>
                          <a:cs typeface="Times New Roman" panose="02020603050405020304" pitchFamily="18" charset="0"/>
                        </a:rPr>
                        <a:t>Member Name</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Member ID</a:t>
                      </a:r>
                      <a:endParaRPr lang="en-US" sz="2800" dirty="0">
                        <a:latin typeface="Times New Roman" panose="02020603050405020304" pitchFamily="18" charset="0"/>
                        <a:cs typeface="Times New Roman" panose="02020603050405020304" pitchFamily="18" charset="0"/>
                      </a:endParaRPr>
                    </a:p>
                  </a:txBody>
                  <a:tcPr/>
                </a:tc>
              </a:tr>
              <a:tr h="370840">
                <a:tc>
                  <a:txBody>
                    <a:bodyPr/>
                    <a:lstStyle/>
                    <a:p>
                      <a:r>
                        <a:rPr lang="en-US" sz="2800" dirty="0" smtClean="0">
                          <a:latin typeface="Times New Roman" panose="02020603050405020304" pitchFamily="18" charset="0"/>
                          <a:cs typeface="Times New Roman" panose="02020603050405020304" pitchFamily="18" charset="0"/>
                        </a:rPr>
                        <a:t>Mohammad Ishrak</a:t>
                      </a:r>
                      <a:r>
                        <a:rPr lang="en-US" sz="2800" baseline="0" dirty="0" smtClean="0">
                          <a:latin typeface="Times New Roman" panose="02020603050405020304" pitchFamily="18" charset="0"/>
                          <a:cs typeface="Times New Roman" panose="02020603050405020304" pitchFamily="18" charset="0"/>
                        </a:rPr>
                        <a:t> Abedin</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160041051</a:t>
                      </a:r>
                      <a:endParaRPr lang="en-US" sz="2800" dirty="0">
                        <a:latin typeface="Times New Roman" panose="02020603050405020304" pitchFamily="18" charset="0"/>
                        <a:cs typeface="Times New Roman" panose="02020603050405020304" pitchFamily="18" charset="0"/>
                      </a:endParaRPr>
                    </a:p>
                  </a:txBody>
                  <a:tcPr/>
                </a:tc>
              </a:tr>
              <a:tr h="370840">
                <a:tc>
                  <a:txBody>
                    <a:bodyPr/>
                    <a:lstStyle/>
                    <a:p>
                      <a:r>
                        <a:rPr lang="en-US" sz="2800" dirty="0" err="1" smtClean="0">
                          <a:latin typeface="Times New Roman" panose="02020603050405020304" pitchFamily="18" charset="0"/>
                          <a:cs typeface="Times New Roman" panose="02020603050405020304" pitchFamily="18" charset="0"/>
                        </a:rPr>
                        <a:t>Shakleen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Ishfar</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160041029</a:t>
                      </a:r>
                      <a:endParaRPr lang="en-US" sz="2800" dirty="0">
                        <a:latin typeface="Times New Roman" panose="02020603050405020304" pitchFamily="18" charset="0"/>
                        <a:cs typeface="Times New Roman" panose="02020603050405020304" pitchFamily="18" charset="0"/>
                      </a:endParaRPr>
                    </a:p>
                  </a:txBody>
                  <a:tcPr/>
                </a:tc>
              </a:tr>
              <a:tr h="370840">
                <a:tc>
                  <a:txBody>
                    <a:bodyPr/>
                    <a:lstStyle/>
                    <a:p>
                      <a:r>
                        <a:rPr lang="en-US" sz="2800" dirty="0" smtClean="0">
                          <a:latin typeface="Times New Roman" panose="02020603050405020304" pitchFamily="18" charset="0"/>
                          <a:cs typeface="Times New Roman" panose="02020603050405020304" pitchFamily="18" charset="0"/>
                        </a:rPr>
                        <a:t>Anika </a:t>
                      </a:r>
                      <a:r>
                        <a:rPr lang="en-US" sz="2800" dirty="0" err="1" smtClean="0">
                          <a:latin typeface="Times New Roman" panose="02020603050405020304" pitchFamily="18" charset="0"/>
                          <a:cs typeface="Times New Roman" panose="02020603050405020304" pitchFamily="18" charset="0"/>
                        </a:rPr>
                        <a:t>Tasnim</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Preoty</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160041044</a:t>
                      </a:r>
                      <a:endParaRPr lang="en-US" sz="2800" dirty="0">
                        <a:latin typeface="Times New Roman" panose="02020603050405020304" pitchFamily="18" charset="0"/>
                        <a:cs typeface="Times New Roman" panose="02020603050405020304" pitchFamily="18" charset="0"/>
                      </a:endParaRPr>
                    </a:p>
                  </a:txBody>
                  <a:tcPr/>
                </a:tc>
              </a:tr>
            </a:tbl>
          </a:graphicData>
        </a:graphic>
      </p:graphicFrame>
      <p:sp>
        <p:nvSpPr>
          <p:cNvPr id="3" name="Slide Number Placeholder 2"/>
          <p:cNvSpPr>
            <a:spLocks noGrp="1"/>
          </p:cNvSpPr>
          <p:nvPr>
            <p:ph type="sldNum" sz="quarter" idx="12"/>
          </p:nvPr>
        </p:nvSpPr>
        <p:spPr/>
        <p:txBody>
          <a:bodyPr/>
          <a:lstStyle/>
          <a:p>
            <a:fld id="{5BE368BE-77EF-4945-9729-4295D5E1577B}" type="slidenum">
              <a:rPr lang="en-US" smtClean="0"/>
              <a:t>2</a:t>
            </a:fld>
            <a:endParaRPr lang="en-US"/>
          </a:p>
        </p:txBody>
      </p:sp>
    </p:spTree>
    <p:extLst>
      <p:ext uri="{BB962C8B-B14F-4D97-AF65-F5344CB8AC3E}">
        <p14:creationId xmlns:p14="http://schemas.microsoft.com/office/powerpoint/2010/main" val="32327034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42963"/>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Introduction</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367073"/>
            <a:ext cx="8915400" cy="4852658"/>
          </a:xfrm>
        </p:spPr>
        <p:txBody>
          <a:bodyPr>
            <a:noAutofit/>
          </a:bodyPr>
          <a:lstStyle/>
          <a:p>
            <a:pPr marL="0" indent="0" algn="just">
              <a:buNone/>
            </a:pPr>
            <a:r>
              <a:rPr lang="en-US" sz="3000" dirty="0" smtClean="0">
                <a:latin typeface="Times New Roman" panose="02020603050405020304" pitchFamily="18" charset="0"/>
                <a:cs typeface="Times New Roman" panose="02020603050405020304" pitchFamily="18" charset="0"/>
              </a:rPr>
              <a:t>This project is about building an automated attendance system that is fast, reliable, easy to implement and less sophisticated hardware oriented than the systems that are currently in use at other places. Our system aims at solving the problems of current analogue attendance system through a way that is convenient for both teachers and students. Through the implementation of regular day hardware that everyone uses, like mobile phones and computers, we wish to automate the attendance system in a </a:t>
            </a:r>
            <a:r>
              <a:rPr lang="en-US" sz="3000" dirty="0" smtClean="0">
                <a:latin typeface="Times New Roman" panose="02020603050405020304" pitchFamily="18" charset="0"/>
                <a:cs typeface="Times New Roman" panose="02020603050405020304" pitchFamily="18" charset="0"/>
              </a:rPr>
              <a:t>simple </a:t>
            </a:r>
            <a:r>
              <a:rPr lang="en-US" sz="3000" smtClean="0">
                <a:latin typeface="Times New Roman" panose="02020603050405020304" pitchFamily="18" charset="0"/>
                <a:cs typeface="Times New Roman" panose="02020603050405020304" pitchFamily="18" charset="0"/>
              </a:rPr>
              <a:t>but effective </a:t>
            </a:r>
            <a:r>
              <a:rPr lang="en-US" sz="3000" dirty="0" smtClean="0">
                <a:latin typeface="Times New Roman" panose="02020603050405020304" pitchFamily="18" charset="0"/>
                <a:cs typeface="Times New Roman" panose="02020603050405020304" pitchFamily="18" charset="0"/>
              </a:rPr>
              <a:t>manner. </a:t>
            </a:r>
            <a:endParaRPr lang="en-US" sz="3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BE368BE-77EF-4945-9729-4295D5E1577B}" type="slidenum">
              <a:rPr lang="en-US" smtClean="0"/>
              <a:t>3</a:t>
            </a:fld>
            <a:endParaRPr lang="en-US"/>
          </a:p>
        </p:txBody>
      </p:sp>
    </p:spTree>
    <p:extLst>
      <p:ext uri="{BB962C8B-B14F-4D97-AF65-F5344CB8AC3E}">
        <p14:creationId xmlns:p14="http://schemas.microsoft.com/office/powerpoint/2010/main" val="1419194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42963"/>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What will our system do?</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367073"/>
            <a:ext cx="8915400" cy="5214796"/>
          </a:xfrm>
        </p:spPr>
        <p:txBody>
          <a:bodyPr>
            <a:noAutofit/>
          </a:bodyPr>
          <a:lstStyle/>
          <a:p>
            <a:pPr marL="0" indent="0" algn="just">
              <a:buNone/>
            </a:pPr>
            <a:r>
              <a:rPr lang="en-US" sz="3000" dirty="0" smtClean="0">
                <a:latin typeface="Times New Roman" panose="02020603050405020304" pitchFamily="18" charset="0"/>
                <a:cs typeface="Times New Roman" panose="02020603050405020304" pitchFamily="18" charset="0"/>
              </a:rPr>
              <a:t>Our system comprises of two major parts, one for the students, the other for the teacher. In short, every class, using the system, the teacher would generate a QR code that will be shown through projector. The students will log into SIS (Student Information System) and scan the QR that would give them present. The teacher can review and modify the attendance and also get all related reports connected with attendance like percentage, whether any student is defaulter or not and many others. A limited time window and secured log in will provide security to the system.</a:t>
            </a:r>
            <a:endParaRPr lang="en-US" sz="3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BE368BE-77EF-4945-9729-4295D5E1577B}" type="slidenum">
              <a:rPr lang="en-US" smtClean="0"/>
              <a:t>4</a:t>
            </a:fld>
            <a:endParaRPr lang="en-US"/>
          </a:p>
        </p:txBody>
      </p:sp>
    </p:spTree>
    <p:extLst>
      <p:ext uri="{BB962C8B-B14F-4D97-AF65-F5344CB8AC3E}">
        <p14:creationId xmlns:p14="http://schemas.microsoft.com/office/powerpoint/2010/main" val="1580313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42963"/>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Problems in Current System</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367073"/>
            <a:ext cx="8915400" cy="4852658"/>
          </a:xfrm>
        </p:spPr>
        <p:txBody>
          <a:bodyPr>
            <a:noAutofit/>
          </a:bodyPr>
          <a:lstStyle/>
          <a:p>
            <a:pPr algn="just"/>
            <a:r>
              <a:rPr lang="en-US" sz="3600" dirty="0" smtClean="0">
                <a:latin typeface="Times New Roman" panose="02020603050405020304" pitchFamily="18" charset="0"/>
                <a:cs typeface="Times New Roman" panose="02020603050405020304" pitchFamily="18" charset="0"/>
              </a:rPr>
              <a:t>Manual</a:t>
            </a:r>
          </a:p>
          <a:p>
            <a:pPr algn="just"/>
            <a:r>
              <a:rPr lang="en-US" sz="3600" dirty="0" smtClean="0">
                <a:latin typeface="Times New Roman" panose="02020603050405020304" pitchFamily="18" charset="0"/>
                <a:cs typeface="Times New Roman" panose="02020603050405020304" pitchFamily="18" charset="0"/>
              </a:rPr>
              <a:t>Time consuming</a:t>
            </a:r>
          </a:p>
          <a:p>
            <a:pPr algn="just"/>
            <a:r>
              <a:rPr lang="en-US" sz="3600" dirty="0" smtClean="0">
                <a:latin typeface="Times New Roman" panose="02020603050405020304" pitchFamily="18" charset="0"/>
                <a:cs typeface="Times New Roman" panose="02020603050405020304" pitchFamily="18" charset="0"/>
              </a:rPr>
              <a:t>Prone to error</a:t>
            </a:r>
          </a:p>
          <a:p>
            <a:pPr algn="just"/>
            <a:r>
              <a:rPr lang="en-US" sz="3600" dirty="0" smtClean="0">
                <a:latin typeface="Times New Roman" panose="02020603050405020304" pitchFamily="18" charset="0"/>
                <a:cs typeface="Times New Roman" panose="02020603050405020304" pitchFamily="18" charset="0"/>
              </a:rPr>
              <a:t>Prone to proxy</a:t>
            </a:r>
          </a:p>
          <a:p>
            <a:pPr algn="just"/>
            <a:r>
              <a:rPr lang="en-US" sz="3600" dirty="0" smtClean="0">
                <a:latin typeface="Times New Roman" panose="02020603050405020304" pitchFamily="18" charset="0"/>
                <a:cs typeface="Times New Roman" panose="02020603050405020304" pitchFamily="18" charset="0"/>
              </a:rPr>
              <a:t>Difficult to manage and store</a:t>
            </a:r>
          </a:p>
          <a:p>
            <a:pPr algn="just"/>
            <a:r>
              <a:rPr lang="en-US" sz="3600" dirty="0" smtClean="0">
                <a:latin typeface="Times New Roman" panose="02020603050405020304" pitchFamily="18" charset="0"/>
                <a:cs typeface="Times New Roman" panose="02020603050405020304" pitchFamily="18" charset="0"/>
              </a:rPr>
              <a:t>Requirement of manual calculations for attendance related information</a:t>
            </a: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BE368BE-77EF-4945-9729-4295D5E1577B}" type="slidenum">
              <a:rPr lang="en-US" smtClean="0"/>
              <a:t>5</a:t>
            </a:fld>
            <a:endParaRPr lang="en-US"/>
          </a:p>
        </p:txBody>
      </p:sp>
    </p:spTree>
    <p:extLst>
      <p:ext uri="{BB962C8B-B14F-4D97-AF65-F5344CB8AC3E}">
        <p14:creationId xmlns:p14="http://schemas.microsoft.com/office/powerpoint/2010/main" val="18947206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42963"/>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Proposed Solution</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367073"/>
            <a:ext cx="8915400" cy="4852658"/>
          </a:xfrm>
        </p:spPr>
        <p:txBody>
          <a:bodyPr>
            <a:noAutofit/>
          </a:bodyPr>
          <a:lstStyle/>
          <a:p>
            <a:pPr algn="just"/>
            <a:r>
              <a:rPr lang="en-US" sz="3600" dirty="0" smtClean="0">
                <a:latin typeface="Times New Roman" panose="02020603050405020304" pitchFamily="18" charset="0"/>
                <a:cs typeface="Times New Roman" panose="02020603050405020304" pitchFamily="18" charset="0"/>
              </a:rPr>
              <a:t>An automated system</a:t>
            </a:r>
          </a:p>
          <a:p>
            <a:pPr algn="just"/>
            <a:r>
              <a:rPr lang="en-US" sz="3600" dirty="0" smtClean="0">
                <a:latin typeface="Times New Roman" panose="02020603050405020304" pitchFamily="18" charset="0"/>
                <a:cs typeface="Times New Roman" panose="02020603050405020304" pitchFamily="18" charset="0"/>
              </a:rPr>
              <a:t>Quick attendance taking</a:t>
            </a:r>
          </a:p>
          <a:p>
            <a:pPr algn="just"/>
            <a:r>
              <a:rPr lang="en-US" sz="3600" dirty="0" smtClean="0">
                <a:latin typeface="Times New Roman" panose="02020603050405020304" pitchFamily="18" charset="0"/>
                <a:cs typeface="Times New Roman" panose="02020603050405020304" pitchFamily="18" charset="0"/>
              </a:rPr>
              <a:t>Accurate</a:t>
            </a:r>
          </a:p>
          <a:p>
            <a:pPr algn="just"/>
            <a:r>
              <a:rPr lang="en-US" sz="3600" dirty="0" smtClean="0">
                <a:latin typeface="Times New Roman" panose="02020603050405020304" pitchFamily="18" charset="0"/>
                <a:cs typeface="Times New Roman" panose="02020603050405020304" pitchFamily="18" charset="0"/>
              </a:rPr>
              <a:t>Secured</a:t>
            </a:r>
          </a:p>
          <a:p>
            <a:pPr algn="just"/>
            <a:r>
              <a:rPr lang="en-US" sz="3600" dirty="0" smtClean="0">
                <a:latin typeface="Times New Roman" panose="02020603050405020304" pitchFamily="18" charset="0"/>
                <a:cs typeface="Times New Roman" panose="02020603050405020304" pitchFamily="18" charset="0"/>
              </a:rPr>
              <a:t>Auto management and storage</a:t>
            </a:r>
          </a:p>
          <a:p>
            <a:pPr algn="just"/>
            <a:r>
              <a:rPr lang="en-US" sz="3600" dirty="0" smtClean="0">
                <a:latin typeface="Times New Roman" panose="02020603050405020304" pitchFamily="18" charset="0"/>
                <a:cs typeface="Times New Roman" panose="02020603050405020304" pitchFamily="18" charset="0"/>
              </a:rPr>
              <a:t>Automated and real time calculation of attendance information and report generation</a:t>
            </a: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BE368BE-77EF-4945-9729-4295D5E1577B}" type="slidenum">
              <a:rPr lang="en-US" smtClean="0"/>
              <a:t>6</a:t>
            </a:fld>
            <a:endParaRPr lang="en-US"/>
          </a:p>
        </p:txBody>
      </p:sp>
    </p:spTree>
    <p:extLst>
      <p:ext uri="{BB962C8B-B14F-4D97-AF65-F5344CB8AC3E}">
        <p14:creationId xmlns:p14="http://schemas.microsoft.com/office/powerpoint/2010/main" val="28845923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0159" y="2366566"/>
            <a:ext cx="8915399" cy="1471379"/>
          </a:xfrm>
        </p:spPr>
        <p:txBody>
          <a:bodyPr/>
          <a:lstStyle/>
          <a:p>
            <a:r>
              <a:rPr lang="en-US" sz="6000" dirty="0" smtClean="0">
                <a:latin typeface="Times New Roman" panose="02020603050405020304" pitchFamily="18" charset="0"/>
                <a:cs typeface="Times New Roman" panose="02020603050405020304" pitchFamily="18" charset="0"/>
              </a:rPr>
              <a:t>Diagrams and Work Flow</a:t>
            </a:r>
            <a:endParaRPr lang="en-US" sz="600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a:xfrm>
            <a:off x="2580159" y="3837946"/>
            <a:ext cx="8915399" cy="860400"/>
          </a:xfrm>
        </p:spPr>
        <p:txBody>
          <a:bodyPr>
            <a:normAutofit/>
          </a:bodyPr>
          <a:lstStyle/>
          <a:p>
            <a:r>
              <a:rPr lang="en-US" sz="2400" dirty="0" smtClean="0">
                <a:latin typeface="Times New Roman" panose="02020603050405020304" pitchFamily="18" charset="0"/>
                <a:cs typeface="Times New Roman" panose="02020603050405020304" pitchFamily="18" charset="0"/>
              </a:rPr>
              <a:t>Data flow, class and sequence diagrams</a:t>
            </a:r>
            <a:endParaRPr lang="en-US" sz="2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5BE368BE-77EF-4945-9729-4295D5E1577B}" type="slidenum">
              <a:rPr lang="en-US" smtClean="0"/>
              <a:t>7</a:t>
            </a:fld>
            <a:endParaRPr lang="en-US"/>
          </a:p>
        </p:txBody>
      </p:sp>
    </p:spTree>
    <p:extLst>
      <p:ext uri="{BB962C8B-B14F-4D97-AF65-F5344CB8AC3E}">
        <p14:creationId xmlns:p14="http://schemas.microsoft.com/office/powerpoint/2010/main" val="35209886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0159" y="2366566"/>
            <a:ext cx="8915399" cy="1471379"/>
          </a:xfrm>
        </p:spPr>
        <p:txBody>
          <a:bodyPr/>
          <a:lstStyle/>
          <a:p>
            <a:r>
              <a:rPr lang="en-US" sz="6000" dirty="0" smtClean="0">
                <a:latin typeface="Times New Roman" panose="02020603050405020304" pitchFamily="18" charset="0"/>
                <a:cs typeface="Times New Roman" panose="02020603050405020304" pitchFamily="18" charset="0"/>
              </a:rPr>
              <a:t>Data Flow Diagrams</a:t>
            </a:r>
            <a:endParaRPr lang="en-US" sz="6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BE368BE-77EF-4945-9729-4295D5E1577B}" type="slidenum">
              <a:rPr lang="en-US" smtClean="0"/>
              <a:t>8</a:t>
            </a:fld>
            <a:endParaRPr lang="en-US"/>
          </a:p>
        </p:txBody>
      </p:sp>
    </p:spTree>
    <p:extLst>
      <p:ext uri="{BB962C8B-B14F-4D97-AF65-F5344CB8AC3E}">
        <p14:creationId xmlns:p14="http://schemas.microsoft.com/office/powerpoint/2010/main" val="40827637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838200" y="365125"/>
            <a:ext cx="10515600" cy="945515"/>
          </a:xfrm>
        </p:spPr>
        <p:txBody>
          <a:bodyPr/>
          <a:lstStyle/>
          <a:p>
            <a:pPr algn="ctr"/>
            <a:r>
              <a:rPr lang="en-US" dirty="0" smtClean="0">
                <a:solidFill>
                  <a:schemeClr val="accent1"/>
                </a:solidFill>
                <a:latin typeface="Times New Roman" panose="02020603050405020304" pitchFamily="18" charset="0"/>
                <a:cs typeface="Times New Roman" panose="02020603050405020304" pitchFamily="18" charset="0"/>
              </a:rPr>
              <a:t>Context Diagram</a:t>
            </a:r>
            <a:endParaRPr lang="en-US" dirty="0">
              <a:solidFill>
                <a:schemeClr val="accent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7993BFD-0111-4BBA-A421-12AC25DD6499}" type="slidenum">
              <a:rPr lang="en-US" smtClean="0"/>
              <a:t>9</a:t>
            </a:fld>
            <a:endParaRPr lang="en-US"/>
          </a:p>
        </p:txBody>
      </p:sp>
      <p:pic>
        <p:nvPicPr>
          <p:cNvPr id="3" name="Picture 2"/>
          <p:cNvPicPr>
            <a:picLocks noChangeAspect="1"/>
          </p:cNvPicPr>
          <p:nvPr/>
        </p:nvPicPr>
        <p:blipFill>
          <a:blip r:embed="rId2"/>
          <a:stretch>
            <a:fillRect/>
          </a:stretch>
        </p:blipFill>
        <p:spPr>
          <a:xfrm>
            <a:off x="557212" y="1985962"/>
            <a:ext cx="11077575" cy="2886075"/>
          </a:xfrm>
          <a:prstGeom prst="rect">
            <a:avLst/>
          </a:prstGeom>
        </p:spPr>
      </p:pic>
    </p:spTree>
    <p:extLst>
      <p:ext uri="{BB962C8B-B14F-4D97-AF65-F5344CB8AC3E}">
        <p14:creationId xmlns:p14="http://schemas.microsoft.com/office/powerpoint/2010/main" val="25761957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838200" y="365125"/>
            <a:ext cx="10515600" cy="945515"/>
          </a:xfrm>
        </p:spPr>
        <p:txBody>
          <a:bodyPr/>
          <a:lstStyle/>
          <a:p>
            <a:pPr algn="ctr"/>
            <a:r>
              <a:rPr lang="en-US" dirty="0" smtClean="0">
                <a:solidFill>
                  <a:schemeClr val="accent1"/>
                </a:solidFill>
                <a:latin typeface="Times New Roman" panose="02020603050405020304" pitchFamily="18" charset="0"/>
                <a:cs typeface="Times New Roman" panose="02020603050405020304" pitchFamily="18" charset="0"/>
              </a:rPr>
              <a:t>Zero Diagram</a:t>
            </a:r>
            <a:endParaRPr lang="en-US" dirty="0">
              <a:solidFill>
                <a:schemeClr val="accent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242955" y="1310640"/>
            <a:ext cx="7706090" cy="5109573"/>
          </a:xfrm>
          <a:prstGeom prst="rect">
            <a:avLst/>
          </a:prstGeom>
        </p:spPr>
      </p:pic>
      <p:sp>
        <p:nvSpPr>
          <p:cNvPr id="3" name="Slide Number Placeholder 2"/>
          <p:cNvSpPr>
            <a:spLocks noGrp="1"/>
          </p:cNvSpPr>
          <p:nvPr>
            <p:ph type="sldNum" sz="quarter" idx="12"/>
          </p:nvPr>
        </p:nvSpPr>
        <p:spPr/>
        <p:txBody>
          <a:bodyPr/>
          <a:lstStyle/>
          <a:p>
            <a:fld id="{F7993BFD-0111-4BBA-A421-12AC25DD6499}" type="slidenum">
              <a:rPr lang="en-US" smtClean="0"/>
              <a:t>10</a:t>
            </a:fld>
            <a:endParaRPr lang="en-US"/>
          </a:p>
        </p:txBody>
      </p:sp>
    </p:spTree>
    <p:extLst>
      <p:ext uri="{BB962C8B-B14F-4D97-AF65-F5344CB8AC3E}">
        <p14:creationId xmlns:p14="http://schemas.microsoft.com/office/powerpoint/2010/main" val="38280552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0159" y="2366566"/>
            <a:ext cx="8915399" cy="1471379"/>
          </a:xfrm>
        </p:spPr>
        <p:txBody>
          <a:bodyPr/>
          <a:lstStyle/>
          <a:p>
            <a:r>
              <a:rPr lang="en-US" sz="6000" dirty="0" smtClean="0">
                <a:latin typeface="Times New Roman" panose="02020603050405020304" pitchFamily="18" charset="0"/>
                <a:cs typeface="Times New Roman" panose="02020603050405020304" pitchFamily="18" charset="0"/>
              </a:rPr>
              <a:t>Class Diagram</a:t>
            </a:r>
            <a:endParaRPr lang="en-US" sz="6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BE368BE-77EF-4945-9729-4295D5E1577B}" type="slidenum">
              <a:rPr lang="en-US" smtClean="0"/>
              <a:t>11</a:t>
            </a:fld>
            <a:endParaRPr lang="en-US"/>
          </a:p>
        </p:txBody>
      </p:sp>
    </p:spTree>
    <p:extLst>
      <p:ext uri="{BB962C8B-B14F-4D97-AF65-F5344CB8AC3E}">
        <p14:creationId xmlns:p14="http://schemas.microsoft.com/office/powerpoint/2010/main" val="13145101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7993BFD-0111-4BBA-A421-12AC25DD6499}" type="slidenum">
              <a:rPr lang="en-US" smtClean="0"/>
              <a:t>12</a:t>
            </a:fld>
            <a:endParaRPr lang="en-US"/>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1315" y="0"/>
            <a:ext cx="8789370" cy="6858000"/>
          </a:xfrm>
          <a:prstGeom prst="rect">
            <a:avLst/>
          </a:prstGeom>
        </p:spPr>
      </p:pic>
      <p:sp>
        <p:nvSpPr>
          <p:cNvPr id="13" name="TextBox 12"/>
          <p:cNvSpPr txBox="1"/>
          <p:nvPr/>
        </p:nvSpPr>
        <p:spPr>
          <a:xfrm>
            <a:off x="1758874" y="6171684"/>
            <a:ext cx="3397084" cy="369332"/>
          </a:xfrm>
          <a:prstGeom prst="rect">
            <a:avLst/>
          </a:prstGeom>
          <a:noFill/>
        </p:spPr>
        <p:txBody>
          <a:bodyPr wrap="none" rtlCol="0">
            <a:spAutoFit/>
          </a:bodyPr>
          <a:lstStyle/>
          <a:p>
            <a:r>
              <a:rPr lang="en-US" i="1" dirty="0" smtClean="0">
                <a:solidFill>
                  <a:schemeClr val="accent3">
                    <a:lumMod val="75000"/>
                  </a:schemeClr>
                </a:solidFill>
                <a:latin typeface="Times New Roman" panose="02020603050405020304" pitchFamily="18" charset="0"/>
                <a:cs typeface="Times New Roman" panose="02020603050405020304" pitchFamily="18" charset="0"/>
              </a:rPr>
              <a:t>Attendance System Class Diagram</a:t>
            </a:r>
            <a:endParaRPr lang="en-US" i="1" dirty="0">
              <a:solidFill>
                <a:schemeClr val="accent3">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80044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0159" y="2366566"/>
            <a:ext cx="8915399" cy="1471379"/>
          </a:xfrm>
        </p:spPr>
        <p:txBody>
          <a:bodyPr/>
          <a:lstStyle/>
          <a:p>
            <a:r>
              <a:rPr lang="en-US" sz="6000" dirty="0" smtClean="0">
                <a:latin typeface="Times New Roman" panose="02020603050405020304" pitchFamily="18" charset="0"/>
                <a:cs typeface="Times New Roman" panose="02020603050405020304" pitchFamily="18" charset="0"/>
              </a:rPr>
              <a:t>Sequence Diagram</a:t>
            </a:r>
            <a:endParaRPr lang="en-US" sz="6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BE368BE-77EF-4945-9729-4295D5E1577B}" type="slidenum">
              <a:rPr lang="en-US" smtClean="0"/>
              <a:t>13</a:t>
            </a:fld>
            <a:endParaRPr lang="en-US"/>
          </a:p>
        </p:txBody>
      </p:sp>
    </p:spTree>
    <p:extLst>
      <p:ext uri="{BB962C8B-B14F-4D97-AF65-F5344CB8AC3E}">
        <p14:creationId xmlns:p14="http://schemas.microsoft.com/office/powerpoint/2010/main" val="14276728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65444" y="0"/>
            <a:ext cx="8861112" cy="6858000"/>
          </a:xfrm>
          <a:prstGeom prst="rect">
            <a:avLst/>
          </a:prstGeom>
        </p:spPr>
      </p:pic>
      <p:sp>
        <p:nvSpPr>
          <p:cNvPr id="2" name="Slide Number Placeholder 1"/>
          <p:cNvSpPr>
            <a:spLocks noGrp="1"/>
          </p:cNvSpPr>
          <p:nvPr>
            <p:ph type="sldNum" sz="quarter" idx="12"/>
          </p:nvPr>
        </p:nvSpPr>
        <p:spPr/>
        <p:txBody>
          <a:bodyPr/>
          <a:lstStyle/>
          <a:p>
            <a:fld id="{F7993BFD-0111-4BBA-A421-12AC25DD6499}" type="slidenum">
              <a:rPr lang="en-US" smtClean="0"/>
              <a:t>14</a:t>
            </a:fld>
            <a:endParaRPr lang="en-US"/>
          </a:p>
        </p:txBody>
      </p:sp>
      <p:sp>
        <p:nvSpPr>
          <p:cNvPr id="13" name="TextBox 12"/>
          <p:cNvSpPr txBox="1"/>
          <p:nvPr/>
        </p:nvSpPr>
        <p:spPr>
          <a:xfrm rot="16200000">
            <a:off x="-1448204" y="3244334"/>
            <a:ext cx="3743332" cy="369332"/>
          </a:xfrm>
          <a:prstGeom prst="rect">
            <a:avLst/>
          </a:prstGeom>
          <a:noFill/>
        </p:spPr>
        <p:txBody>
          <a:bodyPr wrap="none" rtlCol="0">
            <a:spAutoFit/>
          </a:bodyPr>
          <a:lstStyle/>
          <a:p>
            <a:r>
              <a:rPr lang="en-US" i="1" dirty="0" smtClean="0">
                <a:solidFill>
                  <a:schemeClr val="accent3">
                    <a:lumMod val="75000"/>
                  </a:schemeClr>
                </a:solidFill>
                <a:latin typeface="Times New Roman" panose="02020603050405020304" pitchFamily="18" charset="0"/>
                <a:cs typeface="Times New Roman" panose="02020603050405020304" pitchFamily="18" charset="0"/>
              </a:rPr>
              <a:t>Attendance System Sequence Diagram</a:t>
            </a:r>
            <a:endParaRPr lang="en-US" i="1" dirty="0">
              <a:solidFill>
                <a:schemeClr val="accent3">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1776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0159" y="2366566"/>
            <a:ext cx="8915399" cy="1471379"/>
          </a:xfrm>
        </p:spPr>
        <p:txBody>
          <a:bodyPr/>
          <a:lstStyle/>
          <a:p>
            <a:r>
              <a:rPr lang="en-US" sz="6000" dirty="0" smtClean="0">
                <a:latin typeface="Times New Roman" panose="02020603050405020304" pitchFamily="18" charset="0"/>
                <a:cs typeface="Times New Roman" panose="02020603050405020304" pitchFamily="18" charset="0"/>
              </a:rPr>
              <a:t>Prototype Presentation</a:t>
            </a:r>
            <a:endParaRPr lang="en-US" sz="6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BE368BE-77EF-4945-9729-4295D5E1577B}" type="slidenum">
              <a:rPr lang="en-US" smtClean="0"/>
              <a:t>15</a:t>
            </a:fld>
            <a:endParaRPr lang="en-US"/>
          </a:p>
        </p:txBody>
      </p:sp>
    </p:spTree>
    <p:extLst>
      <p:ext uri="{BB962C8B-B14F-4D97-AF65-F5344CB8AC3E}">
        <p14:creationId xmlns:p14="http://schemas.microsoft.com/office/powerpoint/2010/main" val="21810337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3915" y="592824"/>
            <a:ext cx="8911687" cy="742963"/>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Conclusion and Future Works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36800" y="1335787"/>
            <a:ext cx="9265919" cy="5268213"/>
          </a:xfrm>
        </p:spPr>
        <p:txBody>
          <a:bodyPr>
            <a:noAutofit/>
          </a:bodyPr>
          <a:lstStyle/>
          <a:p>
            <a:pPr marL="0" indent="0" algn="just">
              <a:buNone/>
            </a:pPr>
            <a:r>
              <a:rPr lang="en-US" sz="3000" dirty="0" smtClean="0">
                <a:latin typeface="Times New Roman" panose="02020603050405020304" pitchFamily="18" charset="0"/>
                <a:cs typeface="Times New Roman" panose="02020603050405020304" pitchFamily="18" charset="0"/>
              </a:rPr>
              <a:t>In this project, we attempted to introduce a cost efficient but effective attendance system that would solve the current issues in the attendance system of IUT. Due to the lacking of time and various other works, we only managed to develop prototype for one part of the system. In the future, we wish to complete the whole system and put it for a test run. At the same time, in the big picture, we wanted to develop a complete app system for IUT that would let students do all of their various activities while managing daily and academic life. So as a continuation of this project, we wish to achieve such a system in the future.</a:t>
            </a:r>
            <a:endParaRPr lang="en-US" sz="3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BE368BE-77EF-4945-9729-4295D5E1577B}" type="slidenum">
              <a:rPr lang="en-US" smtClean="0"/>
              <a:t>16</a:t>
            </a:fld>
            <a:endParaRPr lang="en-US"/>
          </a:p>
        </p:txBody>
      </p:sp>
    </p:spTree>
    <p:extLst>
      <p:ext uri="{BB962C8B-B14F-4D97-AF65-F5344CB8AC3E}">
        <p14:creationId xmlns:p14="http://schemas.microsoft.com/office/powerpoint/2010/main" val="14325530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80159" y="2366566"/>
            <a:ext cx="8915399" cy="1471379"/>
          </a:xfrm>
        </p:spPr>
        <p:txBody>
          <a:bodyPr>
            <a:noAutofit/>
          </a:bodyPr>
          <a:lstStyle/>
          <a:p>
            <a:r>
              <a:rPr lang="en-US" sz="9600" dirty="0" smtClean="0">
                <a:latin typeface="Times New Roman" panose="02020603050405020304" pitchFamily="18" charset="0"/>
                <a:cs typeface="Times New Roman" panose="02020603050405020304" pitchFamily="18" charset="0"/>
              </a:rPr>
              <a:t>Thank you all!!!</a:t>
            </a:r>
            <a:endParaRPr lang="en-US" sz="960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a:xfrm>
            <a:off x="2580159" y="3837946"/>
            <a:ext cx="8915399" cy="860400"/>
          </a:xfrm>
        </p:spPr>
        <p:txBody>
          <a:bodyPr>
            <a:noAutofit/>
          </a:bodyPr>
          <a:lstStyle/>
          <a:p>
            <a:pPr algn="ctr"/>
            <a:r>
              <a:rPr lang="en-US" sz="5400" dirty="0" smtClean="0">
                <a:latin typeface="Times New Roman" panose="02020603050405020304" pitchFamily="18" charset="0"/>
                <a:cs typeface="Times New Roman" panose="02020603050405020304" pitchFamily="18" charset="0"/>
              </a:rPr>
              <a:t>Any Questions?</a:t>
            </a:r>
            <a:endParaRPr lang="en-US" sz="5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5BE368BE-77EF-4945-9729-4295D5E1577B}" type="slidenum">
              <a:rPr lang="en-US" smtClean="0"/>
              <a:t>17</a:t>
            </a:fld>
            <a:endParaRPr lang="en-US"/>
          </a:p>
        </p:txBody>
      </p:sp>
    </p:spTree>
    <p:extLst>
      <p:ext uri="{BB962C8B-B14F-4D97-AF65-F5344CB8AC3E}">
        <p14:creationId xmlns:p14="http://schemas.microsoft.com/office/powerpoint/2010/main" val="1453050190"/>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191</TotalTime>
  <Words>476</Words>
  <Application>Microsoft Office PowerPoint</Application>
  <PresentationFormat>Widescreen</PresentationFormat>
  <Paragraphs>61</Paragraphs>
  <Slides>17</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Arial</vt:lpstr>
      <vt:lpstr>Calibri</vt:lpstr>
      <vt:lpstr>Calibri Light</vt:lpstr>
      <vt:lpstr>Century Gothic</vt:lpstr>
      <vt:lpstr>Times New Roman</vt:lpstr>
      <vt:lpstr>Wingdings 3</vt:lpstr>
      <vt:lpstr>Wisp</vt:lpstr>
      <vt:lpstr>Office Theme</vt:lpstr>
      <vt:lpstr>Automated Attendance System</vt:lpstr>
      <vt:lpstr>Team Composition</vt:lpstr>
      <vt:lpstr>Introduction</vt:lpstr>
      <vt:lpstr>What will our system do?</vt:lpstr>
      <vt:lpstr>Problems in Current System</vt:lpstr>
      <vt:lpstr>Proposed Solution</vt:lpstr>
      <vt:lpstr>Diagrams and Work Flow</vt:lpstr>
      <vt:lpstr>Data Flow Diagrams</vt:lpstr>
      <vt:lpstr>Context Diagram</vt:lpstr>
      <vt:lpstr>Zero Diagram</vt:lpstr>
      <vt:lpstr>Class Diagram</vt:lpstr>
      <vt:lpstr>PowerPoint Presentation</vt:lpstr>
      <vt:lpstr>Sequence Diagram</vt:lpstr>
      <vt:lpstr>PowerPoint Presentation</vt:lpstr>
      <vt:lpstr>Prototype Presentation</vt:lpstr>
      <vt:lpstr>Conclusion and Future Works</vt:lpstr>
      <vt:lpstr>Thank you all!!!</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Attendance System</dc:title>
  <dc:creator>Ishrak Abedin</dc:creator>
  <cp:lastModifiedBy>Ishrak Abedin</cp:lastModifiedBy>
  <cp:revision>11</cp:revision>
  <dcterms:created xsi:type="dcterms:W3CDTF">2018-10-07T12:03:28Z</dcterms:created>
  <dcterms:modified xsi:type="dcterms:W3CDTF">2018-10-07T16:41:58Z</dcterms:modified>
</cp:coreProperties>
</file>